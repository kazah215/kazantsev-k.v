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  <p:sldId id="263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DM Sans Medium" panose="020B0604020202020204" charset="0"/>
      <p:regular r:id="rId20"/>
      <p: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09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B165-D1D4-CA8C-9F13-74529C64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905BB-D8C7-1192-595F-B5C08B3A3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E5F22-C79B-4F19-44B8-597404582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A1879-7A2D-F874-DE5F-75257D60A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73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B165-D1D4-CA8C-9F13-74529C64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905BB-D8C7-1192-595F-B5C08B3A3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E5F22-C79B-4F19-44B8-597404582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A1879-7A2D-F874-DE5F-75257D60A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953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991A12-83C2-41F7-8479-62A791CE6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8D3410-12D8-4373-BD26-17DC71BDD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B227A4-194A-4A5C-9E1A-CC51E085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A5CBB6-9BBB-4BC6-9810-BDBD9FAE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98F341-67D0-4FCF-B827-8525BE99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460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EEBA0-9613-4C5E-A3FF-0EBD9593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02A5E6-A4D6-46AF-B1E7-BB13B065D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30D5F4-40AE-41A7-A128-A2977887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C5C830-C0C7-426B-9D91-4D83843D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A01645-0E8D-479A-A408-216A336A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94802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CBC73-A94F-424F-8A3C-92DC712D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A3BB40-6A52-4354-9BDB-2A82979A4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B5BE68-07D5-4EDB-BFFF-2194369E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3EEFD4-C8C4-4D78-86F3-9CFB0EAB1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391B9B-AEF5-4812-9A7F-6733F2D6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75248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98F87-D316-48A4-A269-E1B47CA7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454706-61DC-4DA5-9B3E-ECA69168D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A17E4E-B035-43C5-A138-D065DA9DD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AB17E9-3675-4D0C-8D9D-F54354CC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EF210C-015F-4EC0-95C3-CB725819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5C3CC2-A6EA-48D0-A187-321C7D8D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47646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9FDF2-EA03-4788-B126-776C14A5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F4AFD7-0E7B-4081-A259-CB69DAC53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4A3F5D-B5B5-4C72-8073-846B17102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02B30D-1CBD-4E62-8E84-FE44EDA80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59393B-86BD-4CCB-AC7C-9E924F6C6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DB3DCD5-2204-4119-98F9-D3703F04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9A9523-CF04-43EF-8208-8E76018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55AE35A-2424-4CE1-AD73-6C16FA45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85143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84B0F-F63F-4111-A7A8-9AC40ADA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503B927-2462-4412-8A5C-22FEB4AF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155979-8109-4D79-AC7D-5E0B0C59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A28A3C3-71EE-48FB-B3D4-29B2D631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5116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CBD934D-0CB7-4EA6-80BA-66316FA2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D4C57BF-1C40-40B8-ADC2-622A2FA3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176B2C-AC90-440D-B457-17C06695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9915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F153C-2998-4764-B3BC-93BD5C946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4DF10C-6391-4C9D-9A13-769C71643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E364A6-1537-4754-8429-41C6CCEB2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FB7387-5B62-424C-ABC3-AA5AA2C0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14B73D-FD15-4CD2-83CF-50A00895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AB1214-F27A-48AD-95D6-25A53658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10743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D7512-2AF1-444C-B272-7E700CBF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2A7264-C3FA-4F00-8AB0-DE31099A0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B4A22D-ACAB-411F-A80D-F92DA929D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27A236-9C1D-457A-8E44-701F074E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972881-33EF-4066-83C4-6332EBDE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654B3A-4F3D-408B-860D-2A416D4F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03128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A4F57-AD4F-499D-B14F-F17D1105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DDAB3B-3CAE-4931-9B83-FA5A50F05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9C8D08-9B2B-4852-AA7D-942DE9966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41877D-81E9-4406-9B12-B95F1EE9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BEE613-C329-4B94-B375-DF4E91B09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80719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D2957D-E588-4FAC-8396-A812B55D3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8C12DB-411E-43E2-9EB5-20134CE9D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7BE05A-D274-475F-AE21-732131F7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EE8B8D-DF56-4428-870D-9AF923F27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B0ACB5-EF54-45C4-A008-6D1B0445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4669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248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70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923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077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123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831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703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336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08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70A8C-1203-4F1D-9749-8DFCFAC1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717038-E291-44B1-A697-D912A253B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34D31A-AA9F-4844-9E1E-C7F5BE173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9C7DE-0FA0-4995-889D-B1AFF01A5E7E}" type="datetimeFigureOut">
              <a:rPr lang="ru-RU" smtClean="0"/>
              <a:t>01.04.2026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83218B-8D2C-48A6-95C2-CF6D861BD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015400-254E-491D-845A-7A05471C0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03515-2095-415C-80B0-A9DF2BA2D5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030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1174" y="2552222"/>
            <a:ext cx="1108953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РАЗРАБОТКА ПРОГРАММНОГО МОДУЛЯ ДЛЯ УЧЁТА КНИГ В БИБЛИОТЕКЕ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4078843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5415141" y="7823523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2026г.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60A653-E3BE-CFEC-E941-ADF59A695A5C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13B57-7A5D-9D92-D9F7-D34DE1F87BBB}"/>
              </a:ext>
            </a:extLst>
          </p:cNvPr>
          <p:cNvSpPr txBox="1"/>
          <p:nvPr/>
        </p:nvSpPr>
        <p:spPr>
          <a:xfrm>
            <a:off x="3657600" y="413623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4" name="Picture 14" descr="touch-icon-ipad-retina">
            <a:extLst>
              <a:ext uri="{FF2B5EF4-FFF2-40B4-BE49-F238E27FC236}">
                <a16:creationId xmlns:a16="http://schemas.microsoft.com/office/drawing/2014/main" id="{32B953BD-91A1-EF69-41C2-3A26F36F3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895" y="169691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F17C9AEA-9EF2-7B28-2002-897FEAE57383}"/>
              </a:ext>
            </a:extLst>
          </p:cNvPr>
          <p:cNvSpPr/>
          <p:nvPr/>
        </p:nvSpPr>
        <p:spPr>
          <a:xfrm>
            <a:off x="9289592" y="4532048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</a:t>
            </a: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Казанцев Константин Вячеславович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 23П-2, специальность 09.02.07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</a:t>
            </a: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Махнев Александр Анатольевич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207" y="194329"/>
            <a:ext cx="10083046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разработки</a:t>
            </a:r>
            <a:r>
              <a:rPr lang="ru-RU" sz="4000" dirty="0">
                <a:solidFill>
                  <a:srgbClr val="161613"/>
                </a:solidFill>
              </a:rPr>
              <a:t> </a:t>
            </a:r>
            <a:endParaRPr lang="en-US" sz="4000" dirty="0"/>
          </a:p>
        </p:txBody>
      </p:sp>
      <p:sp useBgFill="1"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610BC6C-6F39-0427-0A8F-9037AA62DDB5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32AF271E-1767-E2C3-102E-048012A8170B}"/>
              </a:ext>
            </a:extLst>
          </p:cNvPr>
          <p:cNvSpPr/>
          <p:nvPr/>
        </p:nvSpPr>
        <p:spPr>
          <a:xfrm>
            <a:off x="712207" y="848458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446489-A1A5-4065-B78A-6B602BFB1191}"/>
              </a:ext>
            </a:extLst>
          </p:cNvPr>
          <p:cNvSpPr txBox="1"/>
          <p:nvPr/>
        </p:nvSpPr>
        <p:spPr>
          <a:xfrm>
            <a:off x="212651" y="1109745"/>
            <a:ext cx="7315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учёта книг в библиотеке является не просто улучшением, а необходимым условием для эффективной работы в современных условиях. Разрабатываемый программный модуль позволит: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Ускорить обслуживание читателей в 5–7 раз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Снизить ошибки учёта до 1%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Автоматизировать рутинные операции библиотекаря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Повысить качество и прозрачность работы библиотеки в целом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E8C601-FBE8-49DD-942E-2291B46A022D}"/>
              </a:ext>
            </a:extLst>
          </p:cNvPr>
          <p:cNvSpPr txBox="1"/>
          <p:nvPr/>
        </p:nvSpPr>
        <p:spPr>
          <a:xfrm>
            <a:off x="8378455" y="1151234"/>
            <a:ext cx="5709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Статистика библиотечной отрасли в России</a:t>
            </a:r>
          </a:p>
        </p:txBody>
      </p:sp>
      <p:graphicFrame>
        <p:nvGraphicFramePr>
          <p:cNvPr id="18" name="Таблица 18">
            <a:extLst>
              <a:ext uri="{FF2B5EF4-FFF2-40B4-BE49-F238E27FC236}">
                <a16:creationId xmlns:a16="http://schemas.microsoft.com/office/drawing/2014/main" id="{1ACD057A-E452-49E8-A614-E3DEE43E2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731933"/>
              </p:ext>
            </p:extLst>
          </p:nvPr>
        </p:nvGraphicFramePr>
        <p:xfrm>
          <a:off x="8378456" y="1529144"/>
          <a:ext cx="5950689" cy="4081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82902">
                  <a:extLst>
                    <a:ext uri="{9D8B030D-6E8A-4147-A177-3AD203B41FA5}">
                      <a16:colId xmlns:a16="http://schemas.microsoft.com/office/drawing/2014/main" val="3795724311"/>
                    </a:ext>
                  </a:extLst>
                </a:gridCol>
                <a:gridCol w="1867787">
                  <a:extLst>
                    <a:ext uri="{9D8B030D-6E8A-4147-A177-3AD203B41FA5}">
                      <a16:colId xmlns:a16="http://schemas.microsoft.com/office/drawing/2014/main" val="2461060637"/>
                    </a:ext>
                  </a:extLst>
                </a:gridCol>
              </a:tblGrid>
              <a:tr h="680278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01358"/>
                  </a:ext>
                </a:extLst>
              </a:tr>
              <a:tr h="680278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Общее количество библиотек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более 40 000 учреждений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919672"/>
                  </a:ext>
                </a:extLst>
              </a:tr>
              <a:tr h="680278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Доля библиотек с бумажным учётом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около 70%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420103"/>
                  </a:ext>
                </a:extLst>
              </a:tr>
              <a:tr h="680278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Ежегодные потери книжного фонда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10% из-за ошибок учёта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793108"/>
                  </a:ext>
                </a:extLst>
              </a:tr>
              <a:tr h="680278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обслуживания одного читателя (ручной учёт)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5–7 минут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352719"/>
                  </a:ext>
                </a:extLst>
              </a:tr>
              <a:tr h="680278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Затраты времени на инвентаризацию фонда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1–2 недели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60258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398609B-4226-4289-86C5-C16D4D97B4BC}"/>
              </a:ext>
            </a:extLst>
          </p:cNvPr>
          <p:cNvSpPr txBox="1"/>
          <p:nvPr/>
        </p:nvSpPr>
        <p:spPr>
          <a:xfrm>
            <a:off x="295872" y="6882524"/>
            <a:ext cx="13875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Разрабатываемый программный модуль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LibraryApp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призван решить обозначенные проблемы и предоставить библиотекам доступный, функциональный и надёжный инструмент для автоматизации учёта книжного фонда. Простота интерфейса и минимальные требования к оборудованию делают систему доступной даже для учреждений с ограниченным бюджетом, а модульная архитектура позволяет легко расширять функциональность по мере роста потребностей.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73042" y="1065120"/>
            <a:ext cx="14082157" cy="6740734"/>
          </a:xfrm>
          <a:prstGeom prst="roundRect">
            <a:avLst>
              <a:gd name="adj" fmla="val 2650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60570BE-E30A-4D83-B923-AB0DC121B35F}"/>
              </a:ext>
            </a:extLst>
          </p:cNvPr>
          <p:cNvSpPr/>
          <p:nvPr/>
        </p:nvSpPr>
        <p:spPr>
          <a:xfrm>
            <a:off x="7729869" y="4246432"/>
            <a:ext cx="6453963" cy="17364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 w="12700">
                <a:solidFill>
                  <a:schemeClr val="tx1"/>
                </a:solidFill>
              </a:ln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48DE9A0-1508-487E-9958-DEF7DB712B0A}"/>
              </a:ext>
            </a:extLst>
          </p:cNvPr>
          <p:cNvSpPr/>
          <p:nvPr/>
        </p:nvSpPr>
        <p:spPr>
          <a:xfrm>
            <a:off x="7729870" y="1446028"/>
            <a:ext cx="6453963" cy="17364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 w="12700">
                <a:solidFill>
                  <a:schemeClr val="tx1"/>
                </a:solidFill>
              </a:ln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846986" y="217177"/>
            <a:ext cx="10413683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Объект, предмет и метод исследования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166138" y="1567139"/>
            <a:ext cx="6189061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65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Объект исследования — процессы учёта книг в библиотеке, включающие регистрацию читателей, выдачу и возврат литературы, управление книжным фондом и экземплярами, а также формирование отчётности по работе библиотеки.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204896" y="4401865"/>
            <a:ext cx="5893876" cy="100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65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Предмет исследования — программный модуль для автоматизации учёта книг, его архитектура, реализуемые алгоритмы и пользовательский интерфейс, обеспечивающие эффективное управление библиотечными процессами.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46567" y="2671973"/>
            <a:ext cx="7111937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b="1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Методы исследования — в ходе выполнения курсовой работы:</a:t>
            </a:r>
          </a:p>
          <a:p>
            <a:pPr marL="0" indent="0" algn="l">
              <a:lnSpc>
                <a:spcPts val="2600"/>
              </a:lnSpc>
              <a:buNone/>
            </a:pPr>
            <a:endParaRPr lang="ru-RU" sz="2100" dirty="0">
              <a:solidFill>
                <a:srgbClr val="161613"/>
              </a:solidFill>
              <a:latin typeface="Times New Roman" panose="02020603050405020304" pitchFamily="18" charset="0"/>
              <a:ea typeface="DM Sans Medium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06271" y="3182488"/>
            <a:ext cx="560427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Анализ </a:t>
            </a:r>
            <a:r>
              <a:rPr lang="en-US" sz="1650" dirty="0" err="1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предметной</a:t>
            </a: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области</a:t>
            </a: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06271" y="3647521"/>
            <a:ext cx="560427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Системное проектирование ПО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06271" y="4112554"/>
            <a:ext cx="560427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Моделирование </a:t>
            </a:r>
            <a:r>
              <a:rPr lang="en-US" sz="1650" dirty="0" err="1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структуры</a:t>
            </a: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650" dirty="0" err="1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данных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06271" y="4618912"/>
            <a:ext cx="560427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Описание алгоритмов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706271" y="5128066"/>
            <a:ext cx="560427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Функциональное тестирование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8432F98-FEE9-FF85-1A7C-679BF9130157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F1D12067-2BA0-23B5-331E-4C21362EE950}"/>
              </a:ext>
            </a:extLst>
          </p:cNvPr>
          <p:cNvSpPr/>
          <p:nvPr/>
        </p:nvSpPr>
        <p:spPr>
          <a:xfrm>
            <a:off x="792709" y="854047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1" name="Управляющая кнопка: &quot;На главную&quot;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FD7A9FC-1C25-496E-A519-FD1A5E46D08E}"/>
              </a:ext>
            </a:extLst>
          </p:cNvPr>
          <p:cNvSpPr/>
          <p:nvPr/>
        </p:nvSpPr>
        <p:spPr>
          <a:xfrm>
            <a:off x="7729870" y="1442435"/>
            <a:ext cx="270798" cy="255181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Управляющая кнопка: &quot;Получить сведения&quot; 2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D29B46D-14DD-4BC0-AEAA-308EC52A44C7}"/>
              </a:ext>
            </a:extLst>
          </p:cNvPr>
          <p:cNvSpPr/>
          <p:nvPr/>
        </p:nvSpPr>
        <p:spPr>
          <a:xfrm>
            <a:off x="7729870" y="4260005"/>
            <a:ext cx="363580" cy="275638"/>
          </a:xfrm>
          <a:prstGeom prst="actionButtonInformatio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003BCA4-1E77-4A4E-99A6-75D1CB2E1216}"/>
              </a:ext>
            </a:extLst>
          </p:cNvPr>
          <p:cNvSpPr/>
          <p:nvPr/>
        </p:nvSpPr>
        <p:spPr>
          <a:xfrm>
            <a:off x="446566" y="5790702"/>
            <a:ext cx="6453963" cy="160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600"/>
              </a:lnSpc>
            </a:pPr>
            <a:r>
              <a:rPr lang="ru-RU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комплекс методов позволил разработать полноценный</a:t>
            </a:r>
            <a:r>
              <a:rPr lang="en-US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lnSpc>
                <a:spcPts val="2600"/>
              </a:lnSpc>
            </a:pPr>
            <a:r>
              <a:rPr lang="ru-RU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модуль, соответствующий всем функциональным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600"/>
              </a:lnSpc>
            </a:pPr>
            <a:r>
              <a:rPr lang="ru-RU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требованиям и обеспечивающий эффективную автоматизацию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600"/>
              </a:lnSpc>
            </a:pPr>
            <a:r>
              <a:rPr lang="ru-RU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учёта книг в библиотеке.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1FEE7F6-1E4A-4E96-AC64-8CE128791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963" y="2945119"/>
            <a:ext cx="2545766" cy="233936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12207" y="118306"/>
            <a:ext cx="79024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Анализ предметной области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4108" y="1236680"/>
            <a:ext cx="6546540" cy="233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ru-RU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ручного учёта в библиотеке: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при регистрации выдач и возвратов — до 15% от общего числа операций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информации о книге или читателе в бумажных картотеках — 3–5 минут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единой базы данных — информация разрознена по формулярам, журналам, картотекам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отчёта по книговыдаче и задолженностям — 2–3 часа ручной работы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 useBgFill="1"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7175EBE-BD93-7D74-8CF1-84F7FE22A3DB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F1893FBA-118A-026B-CC04-A14D2B81A035}"/>
              </a:ext>
            </a:extLst>
          </p:cNvPr>
          <p:cNvSpPr/>
          <p:nvPr/>
        </p:nvSpPr>
        <p:spPr>
          <a:xfrm>
            <a:off x="630436" y="80910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59595F20-3795-4930-B7B6-5FAEED9CF3E6}"/>
              </a:ext>
            </a:extLst>
          </p:cNvPr>
          <p:cNvSpPr/>
          <p:nvPr/>
        </p:nvSpPr>
        <p:spPr>
          <a:xfrm>
            <a:off x="8083859" y="1236680"/>
            <a:ext cx="6546541" cy="233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ru-RU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автоматизации: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ошибок учёта в 3–4 раза за счёт автоматического контроля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актуальной информации о фонде и читателях за 1–2 секунды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 учёта книжного фонда — до 99%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расчёт просроченных выдач и задолженностей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Мгновенное формирование отчётов по ключевым показателям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FDE255-F90E-4A7F-893C-5FF0CF351C86}"/>
              </a:ext>
            </a:extLst>
          </p:cNvPr>
          <p:cNvSpPr txBox="1"/>
          <p:nvPr/>
        </p:nvSpPr>
        <p:spPr>
          <a:xfrm>
            <a:off x="2553845" y="4597370"/>
            <a:ext cx="222136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Кому выгодно:</a:t>
            </a:r>
          </a:p>
        </p:txBody>
      </p:sp>
      <p:graphicFrame>
        <p:nvGraphicFramePr>
          <p:cNvPr id="30" name="Таблица 30">
            <a:extLst>
              <a:ext uri="{FF2B5EF4-FFF2-40B4-BE49-F238E27FC236}">
                <a16:creationId xmlns:a16="http://schemas.microsoft.com/office/drawing/2014/main" id="{55138766-EEBF-4FC2-B419-23A63AD59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672195"/>
              </p:ext>
            </p:extLst>
          </p:nvPr>
        </p:nvGraphicFramePr>
        <p:xfrm>
          <a:off x="712207" y="5055444"/>
          <a:ext cx="5131660" cy="26574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65830">
                  <a:extLst>
                    <a:ext uri="{9D8B030D-6E8A-4147-A177-3AD203B41FA5}">
                      <a16:colId xmlns:a16="http://schemas.microsoft.com/office/drawing/2014/main" val="2626112117"/>
                    </a:ext>
                  </a:extLst>
                </a:gridCol>
                <a:gridCol w="2565830">
                  <a:extLst>
                    <a:ext uri="{9D8B030D-6E8A-4147-A177-3AD203B41FA5}">
                      <a16:colId xmlns:a16="http://schemas.microsoft.com/office/drawing/2014/main" val="3917650914"/>
                    </a:ext>
                  </a:extLst>
                </a:gridCol>
              </a:tblGrid>
              <a:tr h="41188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Пользователь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Что получает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942996"/>
                  </a:ext>
                </a:extLst>
              </a:tr>
              <a:tr h="710918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Библиотекарь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Экономия времени, удобный поиск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150989"/>
                  </a:ext>
                </a:extLst>
              </a:tr>
              <a:tr h="710918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Администратор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Контроль фонда, управление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120887"/>
                  </a:ext>
                </a:extLst>
              </a:tr>
              <a:tr h="411881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Читатели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Быстрое обслуживание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880100"/>
                  </a:ext>
                </a:extLst>
              </a:tr>
              <a:tr h="411881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Руководитель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Отчёты, аналитика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56905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E8B6B00-3FB9-4E2F-8A26-DF3CEDCC05D4}"/>
              </a:ext>
            </a:extLst>
          </p:cNvPr>
          <p:cNvSpPr txBox="1"/>
          <p:nvPr/>
        </p:nvSpPr>
        <p:spPr>
          <a:xfrm>
            <a:off x="9763916" y="4580210"/>
            <a:ext cx="3527297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автоматизации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Таблица 30">
            <a:extLst>
              <a:ext uri="{FF2B5EF4-FFF2-40B4-BE49-F238E27FC236}">
                <a16:creationId xmlns:a16="http://schemas.microsoft.com/office/drawing/2014/main" id="{AC8A8C65-4B5C-4C6E-AD38-0F915D38B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691139"/>
              </p:ext>
            </p:extLst>
          </p:nvPr>
        </p:nvGraphicFramePr>
        <p:xfrm>
          <a:off x="8786533" y="5055544"/>
          <a:ext cx="5131660" cy="28856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65830">
                  <a:extLst>
                    <a:ext uri="{9D8B030D-6E8A-4147-A177-3AD203B41FA5}">
                      <a16:colId xmlns:a16="http://schemas.microsoft.com/office/drawing/2014/main" val="2626112117"/>
                    </a:ext>
                  </a:extLst>
                </a:gridCol>
                <a:gridCol w="2565830">
                  <a:extLst>
                    <a:ext uri="{9D8B030D-6E8A-4147-A177-3AD203B41FA5}">
                      <a16:colId xmlns:a16="http://schemas.microsoft.com/office/drawing/2014/main" val="3917650914"/>
                    </a:ext>
                  </a:extLst>
                </a:gridCol>
              </a:tblGrid>
              <a:tr h="41188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Преимущество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Эффект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942996"/>
                  </a:ext>
                </a:extLst>
              </a:tr>
              <a:tr h="710918"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Снижение ошибок в 3–4 раза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Надёжность учёта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150989"/>
                  </a:ext>
                </a:extLst>
              </a:tr>
              <a:tr h="710918"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Доступ к данным за 1–2 секунды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Ускорение в 10–15 раз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120887"/>
                  </a:ext>
                </a:extLst>
              </a:tr>
              <a:tr h="411881"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Точность учёта до 99%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Минимизация потерь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880100"/>
                  </a:ext>
                </a:extLst>
              </a:tr>
              <a:tr h="411881"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Автоматический расчёт просрочек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Контроль задолженностей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5690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97B6A1C-C22C-43BE-82FA-6336ACD6FBF5}"/>
              </a:ext>
            </a:extLst>
          </p:cNvPr>
          <p:cNvSpPr/>
          <p:nvPr/>
        </p:nvSpPr>
        <p:spPr>
          <a:xfrm>
            <a:off x="8494787" y="4376790"/>
            <a:ext cx="5868486" cy="14794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55567" y="142044"/>
            <a:ext cx="94637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36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Преимущества автоматизации</a:t>
            </a:r>
          </a:p>
          <a:p>
            <a:pPr marL="0" indent="0" algn="l">
              <a:lnSpc>
                <a:spcPts val="5550"/>
              </a:lnSpc>
              <a:buNone/>
            </a:pPr>
            <a:endParaRPr lang="ru-RU" sz="4450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 useBgFill="1"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82FF902-C8EC-A0B6-1DB2-DF889123548A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4A83DFC1-B69E-86FA-9023-7021AAA71DFA}"/>
              </a:ext>
            </a:extLst>
          </p:cNvPr>
          <p:cNvSpPr/>
          <p:nvPr/>
        </p:nvSpPr>
        <p:spPr>
          <a:xfrm>
            <a:off x="467696" y="74906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graphicFrame>
        <p:nvGraphicFramePr>
          <p:cNvPr id="29" name="Таблица 29">
            <a:extLst>
              <a:ext uri="{FF2B5EF4-FFF2-40B4-BE49-F238E27FC236}">
                <a16:creationId xmlns:a16="http://schemas.microsoft.com/office/drawing/2014/main" id="{B7DFF7DD-7798-42BC-9FA7-4C90AC172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178991"/>
              </p:ext>
            </p:extLst>
          </p:nvPr>
        </p:nvGraphicFramePr>
        <p:xfrm>
          <a:off x="101601" y="1434598"/>
          <a:ext cx="7691119" cy="6365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907">
                  <a:extLst>
                    <a:ext uri="{9D8B030D-6E8A-4147-A177-3AD203B41FA5}">
                      <a16:colId xmlns:a16="http://schemas.microsoft.com/office/drawing/2014/main" val="3836535213"/>
                    </a:ext>
                  </a:extLst>
                </a:gridCol>
                <a:gridCol w="1561672">
                  <a:extLst>
                    <a:ext uri="{9D8B030D-6E8A-4147-A177-3AD203B41FA5}">
                      <a16:colId xmlns:a16="http://schemas.microsoft.com/office/drawing/2014/main" val="1752790138"/>
                    </a:ext>
                  </a:extLst>
                </a:gridCol>
                <a:gridCol w="1890445">
                  <a:extLst>
                    <a:ext uri="{9D8B030D-6E8A-4147-A177-3AD203B41FA5}">
                      <a16:colId xmlns:a16="http://schemas.microsoft.com/office/drawing/2014/main" val="1223663467"/>
                    </a:ext>
                  </a:extLst>
                </a:gridCol>
                <a:gridCol w="1998095">
                  <a:extLst>
                    <a:ext uri="{9D8B030D-6E8A-4147-A177-3AD203B41FA5}">
                      <a16:colId xmlns:a16="http://schemas.microsoft.com/office/drawing/2014/main" val="1124126576"/>
                    </a:ext>
                  </a:extLst>
                </a:gridCol>
              </a:tblGrid>
              <a:tr h="761417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Ручной учёт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Автоматизация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Эффект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28082"/>
                  </a:ext>
                </a:extLst>
              </a:tr>
              <a:tr h="968575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Поиск книги в каталоге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3–5 минут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1–2 секунды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⬇️ в 90–150 раз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391864"/>
                  </a:ext>
                </a:extLst>
              </a:tr>
              <a:tr h="968575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Обслуживание читателя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5–7 минут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30–60 секунд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⬇️ в 5–7 раз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506991"/>
                  </a:ext>
                </a:extLst>
              </a:tr>
              <a:tr h="761417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Ошибки учёта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10–15%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менее 1%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⬇️ в 10–15 раз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39"/>
                  </a:ext>
                </a:extLst>
              </a:tr>
              <a:tr h="968575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Формирование отчёта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2–3 часа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1–2 минуты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⬇️ в 60–90 раз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05488"/>
                  </a:ext>
                </a:extLst>
              </a:tr>
              <a:tr h="968575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Потери книжного фонда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 10% в год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менее 1% в год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⬇️ в 10 раз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931116"/>
                  </a:ext>
                </a:extLst>
              </a:tr>
              <a:tr h="968575"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Инвентаризация фонда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1–2 недели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1–2 дня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⬇️ в 5–7 раз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50871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4DA75BC-8324-4F24-A3C0-EB0DE82E76A6}"/>
              </a:ext>
            </a:extLst>
          </p:cNvPr>
          <p:cNvSpPr txBox="1"/>
          <p:nvPr/>
        </p:nvSpPr>
        <p:spPr>
          <a:xfrm>
            <a:off x="9786135" y="1030364"/>
            <a:ext cx="3724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ПРЕИМУЩЕСТВА</a:t>
            </a:r>
          </a:p>
          <a:p>
            <a:endParaRPr lang="ru-RU" dirty="0"/>
          </a:p>
        </p:txBody>
      </p:sp>
      <p:graphicFrame>
        <p:nvGraphicFramePr>
          <p:cNvPr id="34" name="Таблица 34">
            <a:extLst>
              <a:ext uri="{FF2B5EF4-FFF2-40B4-BE49-F238E27FC236}">
                <a16:creationId xmlns:a16="http://schemas.microsoft.com/office/drawing/2014/main" id="{08621DAA-6627-452A-86BB-D7B24077C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39622"/>
              </p:ext>
            </p:extLst>
          </p:nvPr>
        </p:nvGraphicFramePr>
        <p:xfrm>
          <a:off x="8494787" y="1371418"/>
          <a:ext cx="5868486" cy="24787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56162">
                  <a:extLst>
                    <a:ext uri="{9D8B030D-6E8A-4147-A177-3AD203B41FA5}">
                      <a16:colId xmlns:a16="http://schemas.microsoft.com/office/drawing/2014/main" val="1856210958"/>
                    </a:ext>
                  </a:extLst>
                </a:gridCol>
                <a:gridCol w="1956162">
                  <a:extLst>
                    <a:ext uri="{9D8B030D-6E8A-4147-A177-3AD203B41FA5}">
                      <a16:colId xmlns:a16="http://schemas.microsoft.com/office/drawing/2014/main" val="3703764265"/>
                    </a:ext>
                  </a:extLst>
                </a:gridCol>
                <a:gridCol w="1956162">
                  <a:extLst>
                    <a:ext uri="{9D8B030D-6E8A-4147-A177-3AD203B41FA5}">
                      <a16:colId xmlns:a16="http://schemas.microsoft.com/office/drawing/2014/main" val="1948791821"/>
                    </a:ext>
                  </a:extLst>
                </a:gridCol>
              </a:tblGrid>
              <a:tr h="61968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⚡ СКОРОСТЬ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🎯 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📊 ОТЧЁТЫ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646466"/>
                  </a:ext>
                </a:extLst>
              </a:tr>
              <a:tr h="61968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Доступ к данным за 1–2 секунды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Ошибки менее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Формирование за 1–2 минуты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41238"/>
                  </a:ext>
                </a:extLst>
              </a:tr>
              <a:tr h="619683"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📚 КОНТРОЛЬ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💾 ДАННЫЕ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👥 УДОБСТВО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188990"/>
                  </a:ext>
                </a:extLst>
              </a:tr>
              <a:tr h="619683"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Автоматический расчёт просрочек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Единая база данных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 всех пользователей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66819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D2A9DDF-9AC7-402B-9743-FD1BEA5FFB7D}"/>
              </a:ext>
            </a:extLst>
          </p:cNvPr>
          <p:cNvSpPr txBox="1"/>
          <p:nvPr/>
        </p:nvSpPr>
        <p:spPr>
          <a:xfrm>
            <a:off x="8640566" y="4589577"/>
            <a:ext cx="55891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Mongolian Baiti" panose="03000500000000000000" pitchFamily="66" charset="0"/>
              </a:rPr>
              <a:t>Экономия до 70% рабочего времени библиотекаря, снижение потерь книжного фонда в 10 раз, повышение качества обслуживания читателей.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879" y="107983"/>
            <a:ext cx="6491288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Основные функции программы</a:t>
            </a:r>
          </a:p>
          <a:p>
            <a:pPr marL="0" indent="0" algn="l">
              <a:lnSpc>
                <a:spcPts val="5550"/>
              </a:lnSpc>
              <a:buNone/>
            </a:pPr>
            <a:endParaRPr lang="ru-RU" sz="4450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 flipV="1">
            <a:off x="41649" y="2345367"/>
            <a:ext cx="5780031" cy="4878392"/>
          </a:xfrm>
          <a:prstGeom prst="roundRect">
            <a:avLst>
              <a:gd name="adj" fmla="val 65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Shape 21"/>
          <p:cNvSpPr/>
          <p:nvPr/>
        </p:nvSpPr>
        <p:spPr>
          <a:xfrm>
            <a:off x="799981" y="6298882"/>
            <a:ext cx="8999339" cy="6481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 useBgFill="1"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A5956DD-D331-4CE0-84E0-20061C410533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61317F7F-40D1-823F-8823-9D00BDF36652}"/>
              </a:ext>
            </a:extLst>
          </p:cNvPr>
          <p:cNvSpPr/>
          <p:nvPr/>
        </p:nvSpPr>
        <p:spPr>
          <a:xfrm>
            <a:off x="388316" y="75972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graphicFrame>
        <p:nvGraphicFramePr>
          <p:cNvPr id="11" name="Таблица 16">
            <a:extLst>
              <a:ext uri="{FF2B5EF4-FFF2-40B4-BE49-F238E27FC236}">
                <a16:creationId xmlns:a16="http://schemas.microsoft.com/office/drawing/2014/main" id="{661EF86A-E285-496A-9E0F-141B4A485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776258"/>
              </p:ext>
            </p:extLst>
          </p:nvPr>
        </p:nvGraphicFramePr>
        <p:xfrm>
          <a:off x="304800" y="1134991"/>
          <a:ext cx="13848080" cy="67553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38880">
                  <a:extLst>
                    <a:ext uri="{9D8B030D-6E8A-4147-A177-3AD203B41FA5}">
                      <a16:colId xmlns:a16="http://schemas.microsoft.com/office/drawing/2014/main" val="3896581306"/>
                    </a:ext>
                  </a:extLst>
                </a:gridCol>
                <a:gridCol w="10109200">
                  <a:extLst>
                    <a:ext uri="{9D8B030D-6E8A-4147-A177-3AD203B41FA5}">
                      <a16:colId xmlns:a16="http://schemas.microsoft.com/office/drawing/2014/main" val="961562468"/>
                    </a:ext>
                  </a:extLst>
                </a:gridCol>
              </a:tblGrid>
              <a:tr h="947946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Раздел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938600"/>
                  </a:ext>
                </a:extLst>
              </a:tr>
              <a:tr h="947946">
                <a:tc>
                  <a:txBody>
                    <a:bodyPr/>
                    <a:lstStyle/>
                    <a:p>
                      <a:r>
                        <a:rPr lang="ru-RU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📚 Книги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Добавление, редактирование, удаление, поиск книг по ISBN, названию, автору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21169"/>
                  </a:ext>
                </a:extLst>
              </a:tr>
              <a:tr h="947946">
                <a:tc>
                  <a:txBody>
                    <a:bodyPr/>
                    <a:lstStyle/>
                    <a:p>
                      <a:r>
                        <a:rPr lang="ru-RU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👥 Читатели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Добавление, редактирование, удаление, поиск читателей по ФИО, телефону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03448"/>
                  </a:ext>
                </a:extLst>
              </a:tr>
              <a:tr h="947946">
                <a:tc>
                  <a:txBody>
                    <a:bodyPr/>
                    <a:lstStyle/>
                    <a:p>
                      <a:r>
                        <a:rPr lang="ru-RU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🔄 Выдача/Журнал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Выдача книг (проверка наличия экземпляров), приём возврата, фильтр «Только активные»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56691"/>
                  </a:ext>
                </a:extLst>
              </a:tr>
              <a:tr h="1067625">
                <a:tc>
                  <a:txBody>
                    <a:bodyPr/>
                    <a:lstStyle/>
                    <a:p>
                      <a:r>
                        <a:rPr lang="ru-RU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📊 Отчёты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Сводка по показателям, список просроченных выдач, топ популярных книг, экспорт в CSV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84970"/>
                  </a:ext>
                </a:extLst>
              </a:tr>
              <a:tr h="947946">
                <a:tc>
                  <a:txBody>
                    <a:bodyPr/>
                    <a:lstStyle/>
                    <a:p>
                      <a:r>
                        <a:rPr lang="ru-RU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👨‍💼 Пользователи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Управление учётными записями сотрудников (только для администратора)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24846"/>
                  </a:ext>
                </a:extLst>
              </a:tr>
              <a:tr h="947946">
                <a:tc>
                  <a:txBody>
                    <a:bodyPr/>
                    <a:lstStyle/>
                    <a:p>
                      <a:r>
                        <a:rPr lang="ru-RU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⚙️ Настройки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Выбор темы оформления, настройка срока возврата книг, выбор папки для экспорта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11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121682"/>
            <a:ext cx="77202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Архитектура приложения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624225F-4185-16CD-1184-DFEAFF0AA565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AutoShape 2" descr="Picture background">
            <a:extLst>
              <a:ext uri="{FF2B5EF4-FFF2-40B4-BE49-F238E27FC236}">
                <a16:creationId xmlns:a16="http://schemas.microsoft.com/office/drawing/2014/main" id="{61BFFD97-0668-F9B2-07A4-737AE47C6B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799" y="3962399"/>
            <a:ext cx="4068417" cy="406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4DF0E4D1-558E-7A6A-A504-3D3A4CD6CA08}"/>
              </a:ext>
            </a:extLst>
          </p:cNvPr>
          <p:cNvSpPr/>
          <p:nvPr/>
        </p:nvSpPr>
        <p:spPr>
          <a:xfrm>
            <a:off x="712207" y="817960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BC07A3CA-EF6A-4337-8627-430F35A36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07" y="1446513"/>
            <a:ext cx="5082899" cy="571983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0017863-6B1A-488E-A83D-1A69E5F640C3}"/>
              </a:ext>
            </a:extLst>
          </p:cNvPr>
          <p:cNvSpPr txBox="1"/>
          <p:nvPr/>
        </p:nvSpPr>
        <p:spPr>
          <a:xfrm>
            <a:off x="9222058" y="1074505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7C10E9A5-1219-4589-9190-20648C35212F}"/>
              </a:ext>
            </a:extLst>
          </p:cNvPr>
          <p:cNvSpPr/>
          <p:nvPr/>
        </p:nvSpPr>
        <p:spPr>
          <a:xfrm>
            <a:off x="7569200" y="1564640"/>
            <a:ext cx="6185828" cy="5719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2C03905A-D030-429A-8791-B1496A29738C}"/>
              </a:ext>
            </a:extLst>
          </p:cNvPr>
          <p:cNvSpPr/>
          <p:nvPr/>
        </p:nvSpPr>
        <p:spPr>
          <a:xfrm>
            <a:off x="7823200" y="1869440"/>
            <a:ext cx="2245360" cy="82391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EC0177B2-13A1-42E9-97A3-F2D3512410E6}"/>
              </a:ext>
            </a:extLst>
          </p:cNvPr>
          <p:cNvSpPr/>
          <p:nvPr/>
        </p:nvSpPr>
        <p:spPr>
          <a:xfrm>
            <a:off x="7807746" y="2812631"/>
            <a:ext cx="2387600" cy="97840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8AA9A95B-277B-415A-8D6B-C0C6CF78E31A}"/>
              </a:ext>
            </a:extLst>
          </p:cNvPr>
          <p:cNvSpPr/>
          <p:nvPr/>
        </p:nvSpPr>
        <p:spPr>
          <a:xfrm>
            <a:off x="11050858" y="2958113"/>
            <a:ext cx="1828800" cy="88348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 4.7.2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0ECD0C25-3300-4EAA-B1A7-C2A9721FECEC}"/>
              </a:ext>
            </a:extLst>
          </p:cNvPr>
          <p:cNvSpPr/>
          <p:nvPr/>
        </p:nvSpPr>
        <p:spPr>
          <a:xfrm>
            <a:off x="7767106" y="3895219"/>
            <a:ext cx="2626574" cy="113896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C0807A30-D341-48B6-89E1-47BA212D728D}"/>
              </a:ext>
            </a:extLst>
          </p:cNvPr>
          <p:cNvSpPr/>
          <p:nvPr/>
        </p:nvSpPr>
        <p:spPr>
          <a:xfrm>
            <a:off x="11050858" y="4150704"/>
            <a:ext cx="2065702" cy="88348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FA9CF94F-FA1A-4A7B-8E43-05B04B1B3C56}"/>
              </a:ext>
            </a:extLst>
          </p:cNvPr>
          <p:cNvSpPr/>
          <p:nvPr/>
        </p:nvSpPr>
        <p:spPr>
          <a:xfrm>
            <a:off x="7717668" y="6413781"/>
            <a:ext cx="5815452" cy="75256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WPF (XAML)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CB54230C-B76D-45BB-8042-CF90625D0FA4}"/>
              </a:ext>
            </a:extLst>
          </p:cNvPr>
          <p:cNvSpPr/>
          <p:nvPr/>
        </p:nvSpPr>
        <p:spPr>
          <a:xfrm>
            <a:off x="11050858" y="1868650"/>
            <a:ext cx="1645236" cy="82391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32095A13-3463-40E2-9C7C-4826CF727F5F}"/>
              </a:ext>
            </a:extLst>
          </p:cNvPr>
          <p:cNvCxnSpPr>
            <a:cxnSpLocks/>
          </p:cNvCxnSpPr>
          <p:nvPr/>
        </p:nvCxnSpPr>
        <p:spPr>
          <a:xfrm>
            <a:off x="10210800" y="2280606"/>
            <a:ext cx="477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7DCE7BE9-67D8-4B2B-8B80-A0BC32EAC406}"/>
              </a:ext>
            </a:extLst>
          </p:cNvPr>
          <p:cNvCxnSpPr>
            <a:cxnSpLocks/>
          </p:cNvCxnSpPr>
          <p:nvPr/>
        </p:nvCxnSpPr>
        <p:spPr>
          <a:xfrm>
            <a:off x="10269794" y="3352391"/>
            <a:ext cx="4185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BAC2B6F2-AEFD-44AC-9B11-1613EC4BE011}"/>
              </a:ext>
            </a:extLst>
          </p:cNvPr>
          <p:cNvCxnSpPr>
            <a:cxnSpLocks/>
          </p:cNvCxnSpPr>
          <p:nvPr/>
        </p:nvCxnSpPr>
        <p:spPr>
          <a:xfrm>
            <a:off x="10452674" y="4592444"/>
            <a:ext cx="469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Прямоугольник: скругленные углы 60">
            <a:extLst>
              <a:ext uri="{FF2B5EF4-FFF2-40B4-BE49-F238E27FC236}">
                <a16:creationId xmlns:a16="http://schemas.microsoft.com/office/drawing/2014/main" id="{065A238F-641E-4E1D-AE31-2FB954326AE0}"/>
              </a:ext>
            </a:extLst>
          </p:cNvPr>
          <p:cNvSpPr/>
          <p:nvPr/>
        </p:nvSpPr>
        <p:spPr>
          <a:xfrm>
            <a:off x="7807746" y="5110119"/>
            <a:ext cx="2626574" cy="113896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управления базами данных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A7B49EFD-0775-400C-B287-0F73B0CE9EF1}"/>
              </a:ext>
            </a:extLst>
          </p:cNvPr>
          <p:cNvSpPr/>
          <p:nvPr/>
        </p:nvSpPr>
        <p:spPr>
          <a:xfrm>
            <a:off x="11050858" y="5348118"/>
            <a:ext cx="2482262" cy="88348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 Express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46857142-CE1C-4E09-9270-10379D21792B}"/>
              </a:ext>
            </a:extLst>
          </p:cNvPr>
          <p:cNvCxnSpPr>
            <a:cxnSpLocks/>
          </p:cNvCxnSpPr>
          <p:nvPr/>
        </p:nvCxnSpPr>
        <p:spPr>
          <a:xfrm>
            <a:off x="10522538" y="5831964"/>
            <a:ext cx="399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900" y="150734"/>
            <a:ext cx="74098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Структура базы данных</a:t>
            </a:r>
          </a:p>
          <a:p>
            <a:pPr marL="0" indent="0" algn="l">
              <a:lnSpc>
                <a:spcPts val="5550"/>
              </a:lnSpc>
              <a:buNone/>
            </a:pPr>
            <a:endParaRPr lang="ru-RU" sz="4000" dirty="0">
              <a:solidFill>
                <a:srgbClr val="161613"/>
              </a:solidFill>
              <a:latin typeface="Times New Roman" panose="02020603050405020304" pitchFamily="18" charset="0"/>
              <a:ea typeface="DM Sans Medium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B2ED5D-80EC-CDCF-CE0F-C6942A040DC8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FAD50959-8D1A-2EAC-98CE-BB4FFE0CA6BA}"/>
              </a:ext>
            </a:extLst>
          </p:cNvPr>
          <p:cNvSpPr/>
          <p:nvPr/>
        </p:nvSpPr>
        <p:spPr>
          <a:xfrm>
            <a:off x="347900" y="892177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8D9ABB-D66C-4093-9B42-5FA2CE03D50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33" y="1342375"/>
            <a:ext cx="6825060" cy="6503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C7D728-6CC3-449E-AE71-0454F9DA28BF}"/>
              </a:ext>
            </a:extLst>
          </p:cNvPr>
          <p:cNvSpPr txBox="1"/>
          <p:nvPr/>
        </p:nvSpPr>
        <p:spPr>
          <a:xfrm>
            <a:off x="8920480" y="1021504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LibraryDB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E86DFCF-3319-4839-911A-B7FAA543B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41153"/>
              </p:ext>
            </p:extLst>
          </p:nvPr>
        </p:nvGraphicFramePr>
        <p:xfrm>
          <a:off x="7884755" y="1472885"/>
          <a:ext cx="6052074" cy="32243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7358">
                  <a:extLst>
                    <a:ext uri="{9D8B030D-6E8A-4147-A177-3AD203B41FA5}">
                      <a16:colId xmlns:a16="http://schemas.microsoft.com/office/drawing/2014/main" val="1923131825"/>
                    </a:ext>
                  </a:extLst>
                </a:gridCol>
                <a:gridCol w="2017358">
                  <a:extLst>
                    <a:ext uri="{9D8B030D-6E8A-4147-A177-3AD203B41FA5}">
                      <a16:colId xmlns:a16="http://schemas.microsoft.com/office/drawing/2014/main" val="645408086"/>
                    </a:ext>
                  </a:extLst>
                </a:gridCol>
                <a:gridCol w="2017358">
                  <a:extLst>
                    <a:ext uri="{9D8B030D-6E8A-4147-A177-3AD203B41FA5}">
                      <a16:colId xmlns:a16="http://schemas.microsoft.com/office/drawing/2014/main" val="1787212657"/>
                    </a:ext>
                  </a:extLst>
                </a:gridCol>
              </a:tblGrid>
              <a:tr h="290781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Таблица</a:t>
                      </a:r>
                    </a:p>
                  </a:txBody>
                  <a:tcPr marL="78516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marL="130859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Ключевые поля</a:t>
                      </a:r>
                    </a:p>
                  </a:txBody>
                  <a:tcPr marL="130859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858992"/>
                  </a:ext>
                </a:extLst>
              </a:tr>
              <a:tr h="609781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516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Информация о книгах</a:t>
                      </a:r>
                    </a:p>
                  </a:txBody>
                  <a:tcPr marL="130859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Id, ISBN, Title, Author, Publisher, Year, CopiesCount</a:t>
                      </a:r>
                    </a:p>
                  </a:txBody>
                  <a:tcPr marL="130859" marR="78516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933203"/>
                  </a:ext>
                </a:extLst>
              </a:tr>
              <a:tr h="43873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BookCopies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516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Экземпляры книг</a:t>
                      </a:r>
                    </a:p>
                  </a:txBody>
                  <a:tcPr marL="130859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Id, BookId, Status, Location</a:t>
                      </a:r>
                    </a:p>
                  </a:txBody>
                  <a:tcPr marL="130859" marR="78516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913240"/>
                  </a:ext>
                </a:extLst>
              </a:tr>
              <a:tr h="609781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516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Выдача и возврат</a:t>
                      </a:r>
                    </a:p>
                  </a:txBody>
                  <a:tcPr marL="130859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Id, BookCopyId, UserId, IssueDate, ReturnDate</a:t>
                      </a:r>
                    </a:p>
                  </a:txBody>
                  <a:tcPr marL="130859" marR="78516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362698"/>
                  </a:ext>
                </a:extLst>
              </a:tr>
              <a:tr h="78083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516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Пользователи системы</a:t>
                      </a:r>
                    </a:p>
                  </a:txBody>
                  <a:tcPr marL="130859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Id, FullName, Phone, Email, Login, Password, RoleId</a:t>
                      </a:r>
                    </a:p>
                  </a:txBody>
                  <a:tcPr marL="130859" marR="78516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417143"/>
                  </a:ext>
                </a:extLst>
              </a:tr>
              <a:tr h="43873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516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Роли пользователей</a:t>
                      </a:r>
                    </a:p>
                  </a:txBody>
                  <a:tcPr marL="130859" marR="130859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Id, Name</a:t>
                      </a:r>
                    </a:p>
                  </a:txBody>
                  <a:tcPr marL="130859" marR="78516" marT="81787" marB="817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41072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6498A23-63E7-451B-AA4C-A1BF1F75DB2F}"/>
              </a:ext>
            </a:extLst>
          </p:cNvPr>
          <p:cNvSpPr txBox="1"/>
          <p:nvPr/>
        </p:nvSpPr>
        <p:spPr>
          <a:xfrm>
            <a:off x="7761192" y="4994819"/>
            <a:ext cx="67371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между таблицами: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BookCopies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(один ко многим) — одна книга может иметь несколько экземпляров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BookCopies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(один ко многим) — один экземпляр может иметь несколько выдач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(один ко многим) — один пользователь может иметь несколько выдач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(один ко многим) — одна роль может быть у многих пользователей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14"/>
            <a:ext cx="90787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Интерфейс программы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8B82A73-C8CA-1791-2987-254DDB228B17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25CB9DD9-D389-639C-49A1-C77678F0ABED}"/>
              </a:ext>
            </a:extLst>
          </p:cNvPr>
          <p:cNvSpPr/>
          <p:nvPr/>
        </p:nvSpPr>
        <p:spPr>
          <a:xfrm>
            <a:off x="712207" y="74043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A6A69D4-BCEA-4482-9876-0D707CB5A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07" y="4317966"/>
            <a:ext cx="5951475" cy="36723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C595801-0BAC-4FDD-816B-378670744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60" y="1165986"/>
            <a:ext cx="4887804" cy="312513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043E70D-4365-46DF-860B-3DE753171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1081252"/>
            <a:ext cx="4887804" cy="303354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FDC5DA8-60FC-4746-9A88-402908EE1C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8341" y="4858831"/>
            <a:ext cx="5134242" cy="30587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6CFB-FF11-86D9-BC4E-B1A9AB36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098D15-BD19-D1EB-B225-17FB0FF06608}"/>
              </a:ext>
            </a:extLst>
          </p:cNvPr>
          <p:cNvSpPr/>
          <p:nvPr/>
        </p:nvSpPr>
        <p:spPr>
          <a:xfrm>
            <a:off x="793789" y="61444"/>
            <a:ext cx="90787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E791530-B600-9420-9E4E-6E919C6CED9E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E1063FF5-F1BA-C446-5905-506DF5A53446}"/>
              </a:ext>
            </a:extLst>
          </p:cNvPr>
          <p:cNvSpPr/>
          <p:nvPr/>
        </p:nvSpPr>
        <p:spPr>
          <a:xfrm>
            <a:off x="712207" y="73426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A285519-367E-4595-A621-61B865D24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49288"/>
              </p:ext>
            </p:extLst>
          </p:nvPr>
        </p:nvGraphicFramePr>
        <p:xfrm>
          <a:off x="390668" y="1113246"/>
          <a:ext cx="13701251" cy="6242592"/>
        </p:xfrm>
        <a:graphic>
          <a:graphicData uri="http://schemas.openxmlformats.org/drawingml/2006/table">
            <a:tbl>
              <a:tblPr/>
              <a:tblGrid>
                <a:gridCol w="742282">
                  <a:extLst>
                    <a:ext uri="{9D8B030D-6E8A-4147-A177-3AD203B41FA5}">
                      <a16:colId xmlns:a16="http://schemas.microsoft.com/office/drawing/2014/main" val="729187007"/>
                    </a:ext>
                  </a:extLst>
                </a:gridCol>
                <a:gridCol w="5776861">
                  <a:extLst>
                    <a:ext uri="{9D8B030D-6E8A-4147-A177-3AD203B41FA5}">
                      <a16:colId xmlns:a16="http://schemas.microsoft.com/office/drawing/2014/main" val="3513464994"/>
                    </a:ext>
                  </a:extLst>
                </a:gridCol>
                <a:gridCol w="3591054">
                  <a:extLst>
                    <a:ext uri="{9D8B030D-6E8A-4147-A177-3AD203B41FA5}">
                      <a16:colId xmlns:a16="http://schemas.microsoft.com/office/drawing/2014/main" val="4234216440"/>
                    </a:ext>
                  </a:extLst>
                </a:gridCol>
                <a:gridCol w="3591054">
                  <a:extLst>
                    <a:ext uri="{9D8B030D-6E8A-4147-A177-3AD203B41FA5}">
                      <a16:colId xmlns:a16="http://schemas.microsoft.com/office/drawing/2014/main" val="1165495897"/>
                    </a:ext>
                  </a:extLst>
                </a:gridCol>
              </a:tblGrid>
              <a:tr h="465642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Фактический результат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08"/>
                  </a:ext>
                </a:extLst>
              </a:tr>
              <a:tr h="465642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 книги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Книга добавлена в список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3918"/>
                  </a:ext>
                </a:extLst>
              </a:tr>
              <a:tr h="65416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 книги с дублирующимся ISBN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об ошибке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996513"/>
                  </a:ext>
                </a:extLst>
              </a:tr>
              <a:tr h="46564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Выдача книги при наличии экземпляра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Запись в журнале, статус изменён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667241"/>
                  </a:ext>
                </a:extLst>
              </a:tr>
              <a:tr h="71347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Выдача книги при отсутствии экземпляра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«Нет доступных экземпляров»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992116"/>
                  </a:ext>
                </a:extLst>
              </a:tr>
              <a:tr h="46564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Возврат книги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возврата, статус «Доступна»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577111"/>
                  </a:ext>
                </a:extLst>
              </a:tr>
              <a:tr h="71347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Удаление книги с активными выдачами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об ошибке, книга не удалена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634915"/>
                  </a:ext>
                </a:extLst>
              </a:tr>
              <a:tr h="46564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книг по названию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Фильтрация списка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45495"/>
                  </a:ext>
                </a:extLst>
              </a:tr>
              <a:tr h="71347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Фильтр «Только активные»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Показывает только незакрытые выдачи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42881"/>
                  </a:ext>
                </a:extLst>
              </a:tr>
              <a:tr h="465642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Вход с корректными данными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Открывается главное окно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959722"/>
                  </a:ext>
                </a:extLst>
              </a:tr>
              <a:tr h="654162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5009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Вход с некорректными данными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об ошибке</a:t>
                      </a:r>
                    </a:p>
                  </a:txBody>
                  <a:tcPr marL="91682" marR="91682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Успешно</a:t>
                      </a:r>
                    </a:p>
                  </a:txBody>
                  <a:tcPr marL="91682" marR="55009" marT="57301" marB="573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87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45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6CFB-FF11-86D9-BC4E-B1A9AB36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098D15-BD19-D1EB-B225-17FB0FF06608}"/>
              </a:ext>
            </a:extLst>
          </p:cNvPr>
          <p:cNvSpPr/>
          <p:nvPr/>
        </p:nvSpPr>
        <p:spPr>
          <a:xfrm>
            <a:off x="793790" y="770223"/>
            <a:ext cx="90787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Заключение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2BA32D3-A801-0A9A-7F13-62204143EE08}"/>
              </a:ext>
            </a:extLst>
          </p:cNvPr>
          <p:cNvSpPr/>
          <p:nvPr/>
        </p:nvSpPr>
        <p:spPr>
          <a:xfrm>
            <a:off x="793790" y="1968990"/>
            <a:ext cx="20145970" cy="598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курсового проекта: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предметной области (библиотечное дело)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техническое задание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структура базы данных (5 таблиц)</a:t>
            </a:r>
          </a:p>
          <a:p>
            <a:pPr>
              <a:lnSpc>
                <a:spcPct val="15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основные функции системы: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книгами и читателями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Выдача и возврат литературы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отчётов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функциональное тестирование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 руководство пользователя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Поставленная цель достигнута. Программный модуль готов к использованию в библиотеках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автоматизации учёта книжного фонда и обслуживания читателей.</a:t>
            </a:r>
          </a:p>
          <a:p>
            <a:endParaRPr lang="ru-RU" sz="2400" dirty="0"/>
          </a:p>
        </p:txBody>
      </p:sp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E791530-B600-9420-9E4E-6E919C6CED9E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E1063FF5-F1BA-C446-5905-506DF5A53446}"/>
              </a:ext>
            </a:extLst>
          </p:cNvPr>
          <p:cNvSpPr/>
          <p:nvPr/>
        </p:nvSpPr>
        <p:spPr>
          <a:xfrm>
            <a:off x="793789" y="160746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74648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1089</Words>
  <Application>Microsoft Office PowerPoint</Application>
  <PresentationFormat>Произвольный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Calibri Light</vt:lpstr>
      <vt:lpstr>Calibri</vt:lpstr>
      <vt:lpstr>Arial</vt:lpstr>
      <vt:lpstr>Times New Roman</vt:lpstr>
      <vt:lpstr>Wingdings</vt:lpstr>
      <vt:lpstr>DM Sans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lastModifiedBy>kprivet000@gmail.com</cp:lastModifiedBy>
  <cp:revision>21</cp:revision>
  <dcterms:created xsi:type="dcterms:W3CDTF">2026-03-30T21:14:42Z</dcterms:created>
  <dcterms:modified xsi:type="dcterms:W3CDTF">2026-04-01T20:31:05Z</dcterms:modified>
</cp:coreProperties>
</file>